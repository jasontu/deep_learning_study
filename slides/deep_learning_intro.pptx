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0C0"/>
                </a:solidFill>
              </a:defRPr>
            </a:pPr>
            <a:r>
              <a:t>深度学习入门：从理论到实践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Neural Networks · Training · Forward/Backward Propagation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1. 神经网络基础</a:t>
            </a:r>
            <a:br/>
            <a:r>
              <a:t>   • 生物神经元启发</a:t>
            </a:r>
            <a:br/>
            <a:r>
              <a:t>   • 神经网络结构（输入层/隐藏层/输出层）</a:t>
            </a:r>
            <a:br/>
            <a:br/>
            <a:r>
              <a:t>2. 学习与训练核心概念</a:t>
            </a:r>
            <a:br/>
            <a:r>
              <a:t>   • 线性回归 → 逻辑回归</a:t>
            </a:r>
            <a:br/>
            <a:r>
              <a:t>   • 损失函数、权重与偏移</a:t>
            </a:r>
            <a:br/>
            <a:r>
              <a:t>   • 梯度下降与链式求导</a:t>
            </a:r>
            <a:br/>
            <a:r>
              <a:t>   • 欠拟合与过拟合</a:t>
            </a:r>
            <a:br/>
            <a:br/>
            <a:r>
              <a:t>3. 数据集与学习方法</a:t>
            </a:r>
            <a:br/>
            <a:r>
              <a:t>   • 训练集/测试集/交叉验证集</a:t>
            </a:r>
            <a:br/>
            <a:r>
              <a:t>   • 监督学习 vs 非监督学习</a:t>
            </a:r>
            <a:br/>
            <a:br/>
            <a:r>
              <a:t>4. 正向传播与反向传播</a:t>
            </a:r>
            <a:br/>
            <a:br/>
            <a:r>
              <a:t>5. 实践演示</a:t>
            </a:r>
            <a:br/>
            <a:r>
              <a:t>   • 实验一：简单的深度学习入门</a:t>
            </a:r>
            <a:br/>
            <a:r>
              <a:t>   • 实验二：人脸识别实战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神经网络简介：从生物到计算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Courier New"/>
              </a:defRPr>
            </a:pPr>
            <a:r>
              <a:t>生物神经元 (Biological Neuron)</a:t>
            </a:r>
            <a:br/>
            <a:r>
              <a:t>┌─────────────────────────────────────────┐</a:t>
            </a:r>
            <a:br/>
            <a:r>
              <a:t>│  树突(Dendrites) → 胞体(Soma) → 轴突(Axon) → 突触(Synapse) │</a:t>
            </a:r>
            <a:br/>
            <a:r>
              <a:t>│  接收信号      →  处理    →  输出    →  传递给下一个神经元   │</a:t>
            </a:r>
            <a:br/>
            <a:r>
              <a:t>└─────────────────────────────────────────┘</a:t>
            </a:r>
            <a:br/>
            <a:br/>
            <a:r>
              <a:t>人工神经元 (Artificial Neuron) - McCulloch-Pitts 模型 (1943)</a:t>
            </a:r>
            <a:br/>
            <a:r>
              <a:t>┌─────────────────────────────────────────┐</a:t>
            </a:r>
            <a:br/>
            <a:r>
              <a:t>│  输入 x₁, x₂, ..., xₙ                    │</a:t>
            </a:r>
            <a:br/>
            <a:r>
              <a:t>│    ↓                                    │</a:t>
            </a:r>
            <a:br/>
            <a:r>
              <a:t>│  加权求和: z = w₁x₁ + w₂x₂ + ... + wₙxₙ + b │</a:t>
            </a:r>
            <a:br/>
            <a:r>
              <a:t>│    ↓                                    │</a:t>
            </a:r>
            <a:br/>
            <a:r>
              <a:t>│  激活函数: a = g(z)                      │</a:t>
            </a:r>
            <a:br/>
            <a:r>
              <a:t>│    ↓                                    │</a:t>
            </a:r>
            <a:br/>
            <a:r>
              <a:t>│  输出                                    │</a:t>
            </a:r>
            <a:br/>
            <a:r>
              <a:t>└─────────────────────────────────────────┘</a:t>
            </a:r>
            <a:br/>
            <a:br/>
            <a:r>
              <a:t>• 权重 (Weights, w): 表示输入的重要性</a:t>
            </a:r>
            <a:br/>
            <a:r>
              <a:t>• 偏移/偏置 (Bias, b): 调整激活阈值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神经网络结构：三层架构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                    输入层          隐藏层          输出层</a:t>
            </a:r>
            <a:br/>
            <a:r>
              <a:t>                    (Input)       (Hidden)       (Output)</a:t>
            </a:r>
            <a:br/>
            <a:r>
              <a:t>                      </a:t>
            </a:r>
            <a:br/>
            <a:r>
              <a:t>    x₁ ───────→    [○]            [○]            [○]  → ŷ (预测值)</a:t>
            </a:r>
            <a:br/>
            <a:r>
              <a:t>                    ↓            / ↓ \            ↑</a:t>
            </a:r>
            <a:br/>
            <a:r>
              <a:t>    x₂ ───────→    [○]    →    [○]──[○]    →    [○]</a:t>
            </a:r>
            <a:br/>
            <a:r>
              <a:t>                    ↓            \ ↑ /            ↑</a:t>
            </a:r>
            <a:br/>
            <a:r>
              <a:t>    x₃ ───────→    [○]            [○]            [○]</a:t>
            </a:r>
            <a:br/>
            <a:r>
              <a:t>                    </a:t>
            </a:r>
            <a:br/>
            <a:r>
              <a:t>    </a:t>
            </a:r>
            <a:br/>
            <a:r>
              <a:t>• 输入层: 接收原始数据特征 (x₁, x₂, x₃...)</a:t>
            </a:r>
            <a:br/>
            <a:r>
              <a:t>• 隐藏层: 提取特征、学习表示（可有多层 → "深度"学习）</a:t>
            </a:r>
            <a:br/>
            <a:r>
              <a:t>• 输出层: 产生最终预测结果</a:t>
            </a:r>
            <a:br/>
            <a:br/>
            <a:r>
              <a:t>深度 = 隐藏层数量（不含输入输出层）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从线性回归开始：预测房价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Courier New"/>
              </a:defRPr>
            </a:pPr>
            <a:r>
              <a:t>场景: 根据房屋面积预测价格</a:t>
            </a:r>
            <a:br/>
            <a:br/>
            <a:r>
              <a:t>数据样例:</a:t>
            </a:r>
            <a:br/>
            <a:r>
              <a:t>┌──────────────┬──────────────┐</a:t>
            </a:r>
            <a:br/>
            <a:r>
              <a:t>│ 面积(m²) x   │ 价格(万) y   │</a:t>
            </a:r>
            <a:br/>
            <a:r>
              <a:t>├──────────────┼──────────────┤</a:t>
            </a:r>
            <a:br/>
            <a:r>
              <a:t>│     50       │     100      │</a:t>
            </a:r>
            <a:br/>
            <a:r>
              <a:t>│     80       │     160      │</a:t>
            </a:r>
            <a:br/>
            <a:r>
              <a:t>│    100       │     200      │</a:t>
            </a:r>
            <a:br/>
            <a:r>
              <a:t>│    120       │     240      │</a:t>
            </a:r>
            <a:br/>
            <a:r>
              <a:t>└──────────────┴──────────────┘</a:t>
            </a:r>
            <a:br/>
            <a:br/>
            <a:r>
              <a:t>线性模型:  ŷ = wx + b</a:t>
            </a:r>
            <a:br/>
            <a:br/>
            <a:r>
              <a:t>• ŷ (y-hat): 预测值</a:t>
            </a:r>
            <a:br/>
            <a:r>
              <a:t>• y: 真实目标值</a:t>
            </a:r>
            <a:br/>
            <a:r>
              <a:t>• w: 权重 (Weight) - 每平方米价格</a:t>
            </a:r>
            <a:br/>
            <a:r>
              <a:t>• b: 偏移 (Bias) - 基础价格</a:t>
            </a:r>
            <a:br/>
            <a:br/>
            <a:r>
              <a:t>目标: 找到最优的 w 和 b，使得预测值 ŷ 尽可能接近真实值 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损失函数：衡量预测的好坏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Courier New"/>
              </a:defRPr>
            </a:pPr>
            <a:r>
              <a:t>为什么需要损失函数？</a:t>
            </a:r>
            <a:br/>
            <a:r>
              <a:t>量化预测值 ŷ 与真实值 y 之间的差距</a:t>
            </a:r>
            <a:br/>
            <a:br/>
            <a:r>
              <a:t>均方误差 (Mean Squared Error, MSE)</a:t>
            </a:r>
            <a:br/>
            <a:r>
              <a:t>┌───────────────────────────────────────────────┐</a:t>
            </a:r>
            <a:br/>
            <a:r>
              <a:t>│                                               │</a:t>
            </a:r>
            <a:br/>
            <a:r>
              <a:t>│      1     m                                  │</a:t>
            </a:r>
            <a:br/>
            <a:r>
              <a:t>│  J = ───   Σ  (ŷ⁽ⁱ⁾ - y⁽ⁱ⁾)²                  │</a:t>
            </a:r>
            <a:br/>
            <a:r>
              <a:t>│      2m   i=1                                 │</a:t>
            </a:r>
            <a:br/>
            <a:r>
              <a:t>│                                               │</a:t>
            </a:r>
            <a:br/>
            <a:r>
              <a:t>└───────────────────────────────────────────────┘</a:t>
            </a:r>
            <a:br/>
            <a:br/>
            <a:r>
              <a:t>• m: 样本数量</a:t>
            </a:r>
            <a:br/>
            <a:r>
              <a:t>• ŷ⁽ⁱ⁾: 第 i 个样本的预测值</a:t>
            </a:r>
            <a:br/>
            <a:r>
              <a:t>• y⁽ⁱ⁾: 第 i 个样本的真实值</a:t>
            </a:r>
            <a:br/>
            <a:r>
              <a:t>• J: 代价函数 (Cost Function)</a:t>
            </a:r>
            <a:br/>
            <a:br/>
            <a:r>
              <a:t>计算示例:</a:t>
            </a:r>
            <a:br/>
            <a:r>
              <a:t>样本1: x=50, y=100, w=2, b=10</a:t>
            </a:r>
            <a:br/>
            <a:r>
              <a:t>  ŷ = 2×50 + 10 = 110</a:t>
            </a:r>
            <a:br/>
            <a:r>
              <a:t>  误差 = (110 - 100)² = 100</a:t>
            </a:r>
            <a:br/>
            <a:br/>
            <a:r>
              <a:t>目标: 最小化 J(w, 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梯度下降：寻找最优参数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Courier New"/>
              </a:defRPr>
            </a:pPr>
            <a:r>
              <a:t>核心思想: 沿着损失函数下降最快的方向更新参数</a:t>
            </a:r>
            <a:br/>
            <a:br/>
            <a:r>
              <a:t>梯度下降算法:</a:t>
            </a:r>
            <a:br/>
            <a:r>
              <a:t>┌───────────────────────────────────────────────┐</a:t>
            </a:r>
            <a:br/>
            <a:r>
              <a:t>│                                               │</a:t>
            </a:r>
            <a:br/>
            <a:r>
              <a:t>│  重复直到收敛:                                 │</a:t>
            </a:r>
            <a:br/>
            <a:r>
              <a:t>│    w := w - α · ∂J/∂w   (对 w 求偏导)        │</a:t>
            </a:r>
            <a:br/>
            <a:r>
              <a:t>│    b := b - α · ∂J/∂b   (对 b 求偏导)        │</a:t>
            </a:r>
            <a:br/>
            <a:r>
              <a:t>│                                               │</a:t>
            </a:r>
            <a:br/>
            <a:r>
              <a:t>└───────────────────────────────────────────────┘</a:t>
            </a:r>
            <a:br/>
            <a:br/>
            <a:r>
              <a:t>• α (alpha): 学习率 (Learning Rate)</a:t>
            </a:r>
            <a:br/>
            <a:r>
              <a:t>  - 太大: 可能震荡无法收敛</a:t>
            </a:r>
            <a:br/>
            <a:r>
              <a:t>  - 太小: 收敛速度太慢</a:t>
            </a:r>
            <a:br/>
            <a:r>
              <a:t>  - 典型值: 0.001, 0.01, 0.1</a:t>
            </a:r>
            <a:br/>
            <a:br/>
            <a:r>
              <a:t>• ∂J/∂w: 损失函数对 w 的梯度（斜率）</a:t>
            </a:r>
            <a:br/>
            <a:r>
              <a:t>  表示 w 变化时 J 的变化率</a:t>
            </a:r>
            <a:br/>
            <a:br/>
            <a:r>
              <a:t>直观理解:</a:t>
            </a:r>
            <a:br/>
            <a:r>
              <a:t>想象在山坡上往下走，梯度告诉你哪个方向最陡</a:t>
            </a:r>
            <a:br/>
            <a:r>
              <a:t>每次迈一小步（学习率控制步长），最终到达山谷（最小值）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链式求导：反向传播的核心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对于复合函数，梯度如何计算？</a:t>
            </a:r>
            <a:br/>
            <a:br/>
            <a:r>
              <a:t>线性回归的梯度推导:</a:t>
            </a:r>
            <a:br/>
            <a:r>
              <a:t>J = (1/2m) Σ(ŷ - y)²,  其中 ŷ = wx + b</a:t>
            </a:r>
            <a:br/>
            <a:br/>
            <a:r>
              <a:t>∂J/∂w = ∂J/∂ŷ · ∂ŷ/∂w</a:t>
            </a:r>
            <a:br/>
            <a:r>
              <a:t>      = (1/m) Σ(ŷ - y) · x</a:t>
            </a:r>
            <a:br/>
            <a:br/>
            <a:r>
              <a:t>∂J/∂b = ∂J/∂ŷ · ∂ŷ/∂b  </a:t>
            </a:r>
            <a:br/>
            <a:r>
              <a:t>      = (1/m) Σ(ŷ - y)</a:t>
            </a:r>
            <a:br/>
            <a:br/>
            <a:r>
              <a:t>示例计算 (单样本):</a:t>
            </a:r>
            <a:br/>
            <a:r>
              <a:t>x = 50, y = 100, w = 2, b = 10</a:t>
            </a:r>
            <a:br/>
            <a:r>
              <a:t>ŷ = 2×50 + 10 = 110</a:t>
            </a:r>
            <a:br/>
            <a:br/>
            <a:r>
              <a:t>∂J/∂w = (110 - 100) × 50 = 500</a:t>
            </a:r>
            <a:br/>
            <a:r>
              <a:t>∂J/∂b = (110 - 100) = 10</a:t>
            </a:r>
            <a:br/>
            <a:br/>
            <a:r>
              <a:t>若 α = 0.001:</a:t>
            </a:r>
            <a:br/>
            <a:r>
              <a:t>w_new = 2 - 0.001×500 = 1.5</a:t>
            </a:r>
            <a:br/>
            <a:r>
              <a:t>b_new = 10 - 0.001×10 = 9.99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逻辑回归：从回归到分类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Courier New"/>
              </a:defRPr>
            </a:pPr>
            <a:r>
              <a:t>场景: 判断邮件是否为垃圾邮件（二分类问题）</a:t>
            </a:r>
            <a:br/>
            <a:br/>
            <a:r>
              <a:t>Sigmoid 激活函数:</a:t>
            </a:r>
            <a:br/>
            <a:r>
              <a:t>┌───────────────────────────────────────────────┐</a:t>
            </a:r>
            <a:br/>
            <a:r>
              <a:t>│                                               │</a:t>
            </a:r>
            <a:br/>
            <a:r>
              <a:t>│              1                                │</a:t>
            </a:r>
            <a:br/>
            <a:r>
              <a:t>│  σ(z) = ──────────                            │</a:t>
            </a:r>
            <a:br/>
            <a:r>
              <a:t>│         1 + e⁻ᶻ                               │</a:t>
            </a:r>
            <a:br/>
            <a:r>
              <a:t>│                                               │</a:t>
            </a:r>
            <a:br/>
            <a:r>
              <a:t>└───────────────────────────────────────────────┘</a:t>
            </a:r>
            <a:br/>
            <a:br/>
            <a:r>
              <a:t>性质:</a:t>
            </a:r>
            <a:br/>
            <a:r>
              <a:t>• 输出范围 (0, 1) → 可解释为概率</a:t>
            </a:r>
            <a:br/>
            <a:r>
              <a:t>• z = 0 时, σ(z) = 0.5</a:t>
            </a:r>
            <a:br/>
            <a:r>
              <a:t>• z → +∞, σ(z) → 1</a:t>
            </a:r>
            <a:br/>
            <a:r>
              <a:t>• z → -∞, σ(z) → 0</a:t>
            </a:r>
            <a:br/>
            <a:br/>
            <a:r>
              <a:t>逻辑回归模型:</a:t>
            </a:r>
            <a:br/>
            <a:r>
              <a:t>  z = wx + b</a:t>
            </a:r>
            <a:br/>
            <a:r>
              <a:t>  ŷ = σ(z) = P(y=1|x)</a:t>
            </a:r>
            <a:br/>
            <a:br/>
            <a:r>
              <a:t>损失函数 (交叉熵):</a:t>
            </a:r>
            <a:br/>
            <a:r>
              <a:t>  L = -[y·log(ŷ) + (1-y)·log(1-ŷ)]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欠拟合与过拟合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                    欠拟合                          过拟合</a:t>
            </a:r>
            <a:br/>
            <a:r>
              <a:t>                 (Underfitting)                  (Overfitting)</a:t>
            </a:r>
            <a:br/>
            <a:r>
              <a:t>                    </a:t>
            </a:r>
            <a:br/>
            <a:r>
              <a:t>    数据分布:         ●  ●    ●                      ●  ●    ●</a:t>
            </a:r>
            <a:br/>
            <a:r>
              <a:t>                   ●        ●  ●                  ●        ●  ●</a:t>
            </a:r>
            <a:br/>
            <a:r>
              <a:t>                 ●    ●        ●                ●    ●        ●</a:t>
            </a:r>
            <a:br/>
            <a:r>
              <a:t>                                                  ●          ●</a:t>
            </a:r>
            <a:br/>
            <a:r>
              <a:t>                                                    ●      ●</a:t>
            </a:r>
            <a:br/>
            <a:r>
              <a:t>                    </a:t>
            </a:r>
            <a:br/>
            <a:r>
              <a:t>    模型结果:    简单直线拟合                  复杂曲线穿过每个点</a:t>
            </a:r>
            <a:br/>
            <a:r>
              <a:t>                训练误差高                     训练误差很低</a:t>
            </a:r>
            <a:br/>
            <a:r>
              <a:t>                测试误差也高                   测试误差很高</a:t>
            </a:r>
            <a:br/>
            <a:r>
              <a:t>                </a:t>
            </a:r>
            <a:br/>
            <a:r>
              <a:t>    原因:        模型太简单                    模型太复杂/数据太少</a:t>
            </a:r>
            <a:br/>
            <a:r>
              <a:t>    </a:t>
            </a:r>
            <a:br/>
            <a:r>
              <a:t>    解决方案:</a:t>
            </a:r>
            <a:br/>
            <a:r>
              <a:t>    • 欠拟合: 增加特征、使用更复杂模型、减少正则化</a:t>
            </a:r>
            <a:br/>
            <a:r>
              <a:t>    • 过拟合: 增加数据、正则化(L1/L2)、Dropout、早停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数据集划分：训练/验证/测试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Courier New"/>
              </a:defRPr>
            </a:pPr>
            <a:r>
              <a:t>为什么需要划分？</a:t>
            </a:r>
            <a:br/>
            <a:r>
              <a:t>评估模型泛化能力（对未见过数据的预测能力）</a:t>
            </a:r>
            <a:br/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                                    │</a:t>
            </a:r>
            <a:br/>
            <a:r>
              <a:t>│   原始数据集                                                │</a:t>
            </a:r>
            <a:br/>
            <a:r>
              <a:t>│   ┌─────────────────────────────────────────────────────┐   │</a:t>
            </a:r>
            <a:br/>
            <a:r>
              <a:t>│   │                                                     │   │</a:t>
            </a:r>
            <a:br/>
            <a:r>
              <a:t>│   │  ┌───────────────┐  ┌─────────────┐  ┌──────────┐  │   │</a:t>
            </a:r>
            <a:br/>
            <a:r>
              <a:t>│   │  │   训练集      │  │  验证集     │  │  测试集  │  │   │</a:t>
            </a:r>
            <a:br/>
            <a:r>
              <a:t>│   │  │   (70%)       │  │  (15%)      │  │  (15%)   │  │   │</a:t>
            </a:r>
            <a:br/>
            <a:r>
              <a:t>│   │  │               │  │             │  │          │  │   │</a:t>
            </a:r>
            <a:br/>
            <a:r>
              <a:t>│   │  │ • 训练模型     │  │ • 调参      │  │ • 最终   │  │   │</a:t>
            </a:r>
            <a:br/>
            <a:r>
              <a:t>│   │  │ • 学习权重     │  │ • 选模型    │  │   评估   │  │   │</a:t>
            </a:r>
            <a:br/>
            <a:r>
              <a:t>│   │  │ • 梯度下降     │  │ • 早停      │  │ • 不用于 │  │   │</a:t>
            </a:r>
            <a:br/>
            <a:r>
              <a:t>│   │  │               │  │             │  │   调参   │  │   │</a:t>
            </a:r>
            <a:br/>
            <a:r>
              <a:t>│   │  └───────────────┘  └─────────────┘  └──────────┘  │   │</a:t>
            </a:r>
            <a:br/>
            <a:r>
              <a:t>│   │                                                     │   │</a:t>
            </a:r>
            <a:br/>
            <a:r>
              <a:t>│   └─────────────────────────────────────────────────────┘   │</a:t>
            </a:r>
            <a:br/>
            <a:r>
              <a:t>│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交叉验证 (K-Fold): 将数据分成K份，轮流用K-1份训练，1份验证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监督学习 vs 非监督学习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Courier New"/>
              </a:defRPr>
            </a:pPr>
            <a:r>
              <a:t>┌─────────────────────┬─────────────────────┐</a:t>
            </a:r>
            <a:br/>
            <a:r>
              <a:t>│     监督学习        │     非监督学习       │</a:t>
            </a:r>
            <a:br/>
            <a:r>
              <a:t>├─────────────────────┼─────────────────────┤</a:t>
            </a:r>
            <a:br/>
            <a:r>
              <a:t>│                     │                     │</a:t>
            </a:r>
            <a:br/>
            <a:r>
              <a:t>│  数据: (X, y)       │  数据: (X)          │</a:t>
            </a:r>
            <a:br/>
            <a:r>
              <a:t>│  有标签             │  无标签             │</a:t>
            </a:r>
            <a:br/>
            <a:r>
              <a:t>│                     │                     │</a:t>
            </a:r>
            <a:br/>
            <a:r>
              <a:t>│  目标: 学习 X→y     │  目标: 发现数据     │</a:t>
            </a:r>
            <a:br/>
            <a:r>
              <a:t>│        的映射       │        的内在结构   │</a:t>
            </a:r>
            <a:br/>
            <a:r>
              <a:t>│                     │                     │</a:t>
            </a:r>
            <a:br/>
            <a:r>
              <a:t>├─────────────────────┼─────────────────────┤</a:t>
            </a:r>
            <a:br/>
            <a:r>
              <a:t>│  典型任务:          │  典型任务:          │</a:t>
            </a:r>
            <a:br/>
            <a:r>
              <a:t>│  • 分类             │  • 聚类             │</a:t>
            </a:r>
            <a:br/>
            <a:r>
              <a:t>│  • 回归             │  • 降维             │</a:t>
            </a:r>
            <a:br/>
            <a:r>
              <a:t>│  • 目标检测         │  • 异常检测         │</a:t>
            </a:r>
            <a:br/>
            <a:r>
              <a:t>│                     │                     │</a:t>
            </a:r>
            <a:br/>
            <a:r>
              <a:t>├─────────────────────┼─────────────────────┤</a:t>
            </a:r>
            <a:br/>
            <a:r>
              <a:t>│  示例:              │  示例:              │</a:t>
            </a:r>
            <a:br/>
            <a:r>
              <a:t>│  • 垃圾邮件分类     │  • 客户分群         │</a:t>
            </a:r>
            <a:br/>
            <a:r>
              <a:t>│  • 房价预测         │  • 主题建模         │</a:t>
            </a:r>
            <a:br/>
            <a:r>
              <a:t>│  • 图像识别         │  • 数据压缩         │</a:t>
            </a:r>
            <a:br/>
            <a:r>
              <a:t>│                     │                     │</a:t>
            </a:r>
            <a:br/>
            <a:r>
              <a:t>└─────────────────────┴─────────────────────┘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正向传播：计算预测值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正向传播 (Forward Propagation): 从输入到输出的计算流程</a:t>
            </a:r>
            <a:br/>
            <a:br/>
            <a:r>
              <a:t>网络结构:</a:t>
            </a:r>
            <a:br/>
            <a:r>
              <a:t>  输入层        隐藏层1         隐藏层2        输出层</a:t>
            </a:r>
            <a:br/>
            <a:r>
              <a:t>    [x₁]         [h₁⁽¹⁾]        [h₁⁽²⁾]         [ŷ]</a:t>
            </a:r>
            <a:br/>
            <a:r>
              <a:t>    [x₂]    →    [h₂⁽¹⁾]   →    [h₂⁽²⁾]   →     </a:t>
            </a:r>
            <a:br/>
            <a:r>
              <a:t>    [x₃]         [h₃⁽¹⁾]        [h₃⁽²⁾]</a:t>
            </a:r>
            <a:br/>
            <a:br/>
            <a:r>
              <a:t>计算过程:</a:t>
            </a:r>
            <a:br/>
            <a:r>
              <a:t>Layer 1:  z⁽¹⁾ = W⁽¹⁾x + b⁽¹⁾,   a⁽¹⁾ = g(z⁽¹⁾)</a:t>
            </a:r>
            <a:br/>
            <a:r>
              <a:t>Layer 2:  z⁽²⁾ = W⁽²⁾a⁽¹⁾ + b⁽²⁾, a⁽²⁾ = g(z⁽²⁾)</a:t>
            </a:r>
            <a:br/>
            <a:r>
              <a:t>Output:   z⁽³⁾ = W⁽³⁾a⁽²⁾ + b⁽³⁾, ŷ = σ(z⁽³⁾)</a:t>
            </a:r>
            <a:br/>
            <a:br/>
            <a:r>
              <a:t>维度检查:</a:t>
            </a:r>
            <a:br/>
            <a:r>
              <a:t>• x: (n_x, 1)</a:t>
            </a:r>
            <a:br/>
            <a:r>
              <a:t>• W⁽¹⁾: (n_h1, n_x)</a:t>
            </a:r>
            <a:br/>
            <a:r>
              <a:t>• W⁽²⁾: (n_h2, n_h1)</a:t>
            </a:r>
            <a:br/>
            <a:r>
              <a:t>• W⁽³⁾: (n_y, n_h2)</a:t>
            </a:r>
            <a:br/>
            <a:br/>
            <a:r>
              <a:t>一次正向传播 = 一次预测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反向传播：计算梯度并更新参数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反向传播 (Backpropagation): 从输出到输入的梯度传递</a:t>
            </a:r>
            <a:br/>
            <a:br/>
            <a:r>
              <a:t>核心: 链式求导法则的应用</a:t>
            </a:r>
            <a:br/>
            <a:br/>
            <a:r>
              <a:t>计算流程 (从右到左):</a:t>
            </a:r>
            <a:br/>
            <a:br/>
            <a:r>
              <a:t>1. 输出层梯度:</a:t>
            </a:r>
            <a:br/>
            <a:r>
              <a:t>   δ⁽ᴸ⁾ = ∂J/∂z⁽ᴸ⁾ = ŷ - y</a:t>
            </a:r>
            <a:br/>
            <a:br/>
            <a:r>
              <a:t>2. 反向传播到隐藏层:</a:t>
            </a:r>
            <a:br/>
            <a:r>
              <a:t>   δ⁽ˡ⁾ = (W⁽ˡ⁺¹⁾ᵀ · δ⁽ˡ⁺¹⁾) ⊙ g'(z⁽ˡ⁾)</a:t>
            </a:r>
            <a:br/>
            <a:r>
              <a:t>   </a:t>
            </a:r>
            <a:br/>
            <a:r>
              <a:t>3. 计算参数梯度:</a:t>
            </a:r>
            <a:br/>
            <a:r>
              <a:t>   ∂J/∂W⁽ˡ⁾ = δ⁽ˡ⁾ · a⁽ˡ⁻¹⁾ᵀ</a:t>
            </a:r>
            <a:br/>
            <a:r>
              <a:t>   ∂J/∂b⁽ˡ⁾ = δ⁽ˡ⁾</a:t>
            </a:r>
            <a:br/>
            <a:br/>
            <a:r>
              <a:t>4. 更新参数:</a:t>
            </a:r>
            <a:br/>
            <a:r>
              <a:t>   W⁽ˡ⁾ := W⁽ˡ⁾ - α · ∂J/∂W⁽ˡ⁾</a:t>
            </a:r>
            <a:br/>
            <a:r>
              <a:t>   b⁽ˡ⁾ := b⁽ˡ⁾ - α · ∂J/∂b⁽ˡ⁾</a:t>
            </a:r>
            <a:br/>
            <a:br/>
            <a:r>
              <a:t>关键: 梯度从输出层逐层反向传递到输入层，高效计算所有参数梯度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实验一：最简单的深度学习实践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目标: 用最基本的API实现一个神经网络，理解核心流程</a:t>
            </a:r>
            <a:br/>
            <a:br/>
            <a:r>
              <a:t>任务: 二分类问题（如判断点是红还是蓝）</a:t>
            </a:r>
            <a:br/>
            <a:br/>
            <a:r>
              <a:t>实验内容:</a:t>
            </a:r>
            <a:br/>
            <a:r>
              <a:t>1. 使用 NumPy 手动实现:</a:t>
            </a:r>
            <a:br/>
            <a:r>
              <a:t>   • 网络初始化</a:t>
            </a:r>
            <a:br/>
            <a:r>
              <a:t>   • 正向传播</a:t>
            </a:r>
            <a:br/>
            <a:r>
              <a:t>   • 损失计算</a:t>
            </a:r>
            <a:br/>
            <a:r>
              <a:t>   • 反向传播</a:t>
            </a:r>
            <a:br/>
            <a:r>
              <a:t>   • 参数更新</a:t>
            </a:r>
            <a:br/>
            <a:br/>
            <a:r>
              <a:t>2. 对比使用 PyTorch/Keras:</a:t>
            </a:r>
            <a:br/>
            <a:r>
              <a:t>   • 同样的网络结构</a:t>
            </a:r>
            <a:br/>
            <a:r>
              <a:t>   • 高层API封装</a:t>
            </a:r>
            <a:br/>
            <a:r>
              <a:t>   • 理解框架在背后做了什么</a:t>
            </a:r>
            <a:br/>
            <a:br/>
            <a:r>
              <a:t>代码路径: experiments/experiment_1_basic_nn/</a:t>
            </a:r>
            <a:br/>
            <a:br/>
            <a:r>
              <a:t>预计时间: 15-20 分钟演示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实验二：人脸识别实战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目标: 从训练到实时预测，完整体验深度学习工作流</a:t>
            </a:r>
            <a:br/>
            <a:br/>
            <a:r>
              <a:t>场景: 识别照片中的人是谁</a:t>
            </a:r>
            <a:br/>
            <a:br/>
            <a:r>
              <a:t>流程:</a:t>
            </a:r>
            <a:br/>
            <a:r>
              <a:t>1. 数据准备</a:t>
            </a:r>
            <a:br/>
            <a:r>
              <a:t>   • 收集少量照片（每人10-20张）</a:t>
            </a:r>
            <a:br/>
            <a:r>
              <a:t>   • 数据增强（旋转、翻转、缩放）</a:t>
            </a:r>
            <a:br/>
            <a:br/>
            <a:r>
              <a:t>2. 模型训练</a:t>
            </a:r>
            <a:br/>
            <a:r>
              <a:t>   • 使用预训练模型（Transfer Learning）</a:t>
            </a:r>
            <a:br/>
            <a:r>
              <a:t>   • 或在预训练模型上 Fine-tune</a:t>
            </a:r>
            <a:br/>
            <a:br/>
            <a:r>
              <a:t>3. 实时识别</a:t>
            </a:r>
            <a:br/>
            <a:r>
              <a:t>   • 现场拍照</a:t>
            </a:r>
            <a:br/>
            <a:r>
              <a:t>   • 模型推理预测</a:t>
            </a:r>
            <a:br/>
            <a:r>
              <a:t>   • 显示识别结果</a:t>
            </a:r>
            <a:br/>
            <a:br/>
            <a:r>
              <a:t>代码路径: experiments/experiment_2_face_recognition/</a:t>
            </a:r>
            <a:br/>
            <a:br/>
            <a:r>
              <a:t>预计时间: 15-20 分钟演示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总结：深度学习的核心要素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1. 网络结构</a:t>
            </a:r>
            <a:br/>
            <a:r>
              <a:t>   • 层数、神经元数、连接方式</a:t>
            </a:r>
            <a:br/>
            <a:r>
              <a:t>   • 激活函数的选择</a:t>
            </a:r>
            <a:br/>
            <a:br/>
            <a:r>
              <a:t>2. 损失函数</a:t>
            </a:r>
            <a:br/>
            <a:r>
              <a:t>   • 定义优化目标</a:t>
            </a:r>
            <a:br/>
            <a:r>
              <a:t>   • 回归:MSE, 分类:Cross-Entropy</a:t>
            </a:r>
            <a:br/>
            <a:br/>
            <a:r>
              <a:t>3. 优化算法</a:t>
            </a:r>
            <a:br/>
            <a:r>
              <a:t>   • 梯度下降及其变种</a:t>
            </a:r>
            <a:br/>
            <a:r>
              <a:t>   • 学习率调度</a:t>
            </a:r>
            <a:br/>
            <a:br/>
            <a:r>
              <a:t>4. 数据</a:t>
            </a:r>
            <a:br/>
            <a:r>
              <a:t>   • 质量与数量</a:t>
            </a:r>
            <a:br/>
            <a:r>
              <a:t>   • 划分策略</a:t>
            </a:r>
            <a:br/>
            <a:br/>
            <a:r>
              <a:t>5. 训练技巧</a:t>
            </a:r>
            <a:br/>
            <a:r>
              <a:t>   • 正则化防止过拟合</a:t>
            </a:r>
            <a:br/>
            <a:r>
              <a:t>   • Batch Normalization</a:t>
            </a:r>
            <a:br/>
            <a:r>
              <a:t>   • 合适的初始化</a:t>
            </a:r>
            <a:br/>
            <a:br/>
            <a:r>
              <a:t>"深度学习没有魔法，只有数学和工程。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微软雅黑"/>
              </a:defRPr>
            </a:pPr>
            <a:r>
              <a:t>感谢聆听！</a:t>
            </a:r>
            <a:br/>
            <a:br/>
            <a:r>
              <a:t>代码和数据已准备好，接下来进行实践演示。</a:t>
            </a:r>
            <a:br/>
            <a:br/>
            <a:br/>
            <a:r>
              <a:t>推荐学习资源:</a:t>
            </a:r>
            <a:br/>
            <a:r>
              <a:t>• Deep Learning Specialization (Andrew Ng)</a:t>
            </a:r>
            <a:br/>
            <a:r>
              <a:t>• 《深度学习》(花书)</a:t>
            </a:r>
            <a:br/>
            <a:r>
              <a:t>• PyTorch/TensorFlow 官方教程</a:t>
            </a:r>
            <a:br/>
            <a:r>
              <a:t>• Papers With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